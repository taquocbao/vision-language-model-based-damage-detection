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097280"/>
            <a:ext cx="996696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463040"/>
            <a:ext cx="88696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MULTIMODAL AI &amp; COMPUTER VISION FOR CIVIL INFRASTRUCTURE</a:t>
            </a:r>
          </a:p>
          <a:p>
            <a:pPr>
              <a:spcBef>
                <a:spcPts val="800"/>
              </a:spcBef>
              <a:defRPr sz="3200" b="1">
                <a:solidFill>
                  <a:srgbClr val="F8FAFC"/>
                </a:solidFill>
              </a:defRPr>
            </a:pPr>
            <a:r>
              <a:t>Structural Damage Image-Text Diagnosis</a:t>
            </a:r>
          </a:p>
          <a:p>
            <a:pPr>
              <a:spcBef>
                <a:spcPts val="800"/>
              </a:spcBef>
              <a:defRPr sz="1600">
                <a:solidFill>
                  <a:srgbClr val="34D399"/>
                </a:solidFill>
              </a:defRPr>
            </a:pPr>
            <a:r>
              <a:t>Fine-Tuning Qwen3-VL-8B-Instruct via LoRA with 3-Tier Data Bake-Off and Low-VRAM Deployment</a:t>
            </a:r>
          </a:p>
          <a:p>
            <a:pPr>
              <a:spcBef>
                <a:spcPts val="2800"/>
              </a:spcBef>
              <a:defRPr sz="1200">
                <a:solidFill>
                  <a:srgbClr val="94A3B8"/>
                </a:solidFill>
              </a:defRPr>
            </a:pPr>
            <a:r>
              <a:t>• Model: Qwen3-VL-8B-Instruct  |  • Holdout Multilabel F1: 0.9528  |  • Framework: LLaMA-Factory + LoRA (BF16)</a:t>
            </a:r>
            <a:br/>
            <a:r>
              <a:t>• Published LoRA: nhantran214/damage-vlm-qwen3vl-8b-lora  |  • Target GPU: RTX 5880 Ada (49GB)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• OVERVIEW •</a:t>
            </a:r>
          </a:p>
          <a:p>
            <a:pPr>
              <a:spcBef>
                <a:spcPts val="300"/>
              </a:spcBef>
              <a:defRPr sz="2200" b="1">
                <a:solidFill>
                  <a:srgbClr val="F8FAFC"/>
                </a:solidFill>
              </a:defRPr>
            </a:pPr>
            <a:r>
              <a:t>1. Executive Summary &amp; Mission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12080" cy="49377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4663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Mission Objective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Build an offline AI pipeline that takes structural inspection photos and automatically generates forensic diagnosis reports formatted strictly as valid JSON with zero conversational filler.</a:t>
            </a:r>
          </a:p>
          <a:p>
            <a:pPr>
              <a:spcBef>
                <a:spcPts val="1200"/>
              </a:spcBef>
              <a:defRPr sz="1300" b="1">
                <a:solidFill>
                  <a:srgbClr val="FBBF24"/>
                </a:solidFill>
              </a:defRPr>
            </a:pPr>
            <a:r>
              <a:t>Standard Output Schema: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Courier New"/>
              </a:defRPr>
            </a:pPr>
            <a:r>
              <a:t>{</a:t>
            </a:r>
            <a:br/>
            <a:r>
              <a:t>  "image_id": "00002",</a:t>
            </a:r>
            <a:br/>
            <a:r>
              <a:t>  "damage_categories": ["cracks", "spalling"],</a:t>
            </a:r>
            <a:br/>
            <a:r>
              <a:t>  "description": "Longitudinal fracture along beam with adjacent surface spalling and exposed matrix."</a:t>
            </a:r>
            <a:br/>
            <a:r>
              <a:t>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554480"/>
            <a:ext cx="4663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Core Quantitative Achievements</a:t>
            </a:r>
          </a:p>
          <a:p>
            <a:pPr>
              <a:spcBef>
                <a:spcPts val="1000"/>
              </a:spcBef>
              <a:defRPr sz="1200" b="1">
                <a:solidFill>
                  <a:srgbClr val="38BDF8"/>
                </a:solidFill>
              </a:defRPr>
            </a:pPr>
            <a:r>
              <a:t>• 0.9528 Multilabel F1 Score: 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Holdout validation (n=237) across 10 closed damage classes with zero leakage.</a:t>
            </a:r>
          </a:p>
          <a:p>
            <a:pPr>
              <a:spcBef>
                <a:spcPts val="1000"/>
              </a:spcBef>
              <a:defRPr sz="1200" b="1">
                <a:solidFill>
                  <a:srgbClr val="38BDF8"/>
                </a:solidFill>
              </a:defRPr>
            </a:pPr>
            <a:r>
              <a:t>• 0.8268 Winning Weighted Score: 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Formula: 0.6 * F1 + 0.4 * METEOR. Won over all augmentation variants.</a:t>
            </a:r>
          </a:p>
          <a:p>
            <a:pPr>
              <a:spcBef>
                <a:spcPts val="1000"/>
              </a:spcBef>
              <a:defRPr sz="1200" b="1">
                <a:solidFill>
                  <a:srgbClr val="38BDF8"/>
                </a:solidFill>
              </a:defRPr>
            </a:pPr>
            <a:r>
              <a:t>• Frozen Vision + Projector: 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Preserves pretrained visual representations and saves ~18GB VRAM.</a:t>
            </a:r>
          </a:p>
          <a:p>
            <a:pPr>
              <a:spcBef>
                <a:spcPts val="1000"/>
              </a:spcBef>
              <a:defRPr sz="1200" b="1">
                <a:solidFill>
                  <a:srgbClr val="38BDF8"/>
                </a:solidFill>
              </a:defRPr>
            </a:pPr>
            <a:r>
              <a:t>• Dual Deployment Modes: 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Full BF16 high-precision mode (~18GB) + 4-Bit low-VRAM mode (~5.8GB for RTX 3060).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• DOMAIN CHALLENGE •</a:t>
            </a:r>
          </a:p>
          <a:p>
            <a:pPr>
              <a:spcBef>
                <a:spcPts val="300"/>
              </a:spcBef>
              <a:defRPr sz="2200" b="1">
                <a:solidFill>
                  <a:srgbClr val="F8FAFC"/>
                </a:solidFill>
              </a:defRPr>
            </a:pPr>
            <a:r>
              <a:t>2. Problem Framing &amp; 10-Class Fixed Taxonomy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12080" cy="49377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4663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</a:defRPr>
            </a:pPr>
            <a:r>
              <a:t>Domain-Specific Challenges</a:t>
            </a:r>
          </a:p>
          <a:p>
            <a:pPr>
              <a:spcBef>
                <a:spcPts val="1200"/>
              </a:spcBef>
              <a:defRPr sz="1300" b="1">
                <a:solidFill>
                  <a:srgbClr val="EF4444"/>
                </a:solidFill>
              </a:defRPr>
            </a:pPr>
            <a:r>
              <a:t>• Multi-Defect Co-occurrence</a:t>
            </a:r>
          </a:p>
          <a:p>
            <a:pPr>
              <a:spcBef>
                <a:spcPts val="200"/>
              </a:spcBef>
              <a:defRPr sz="1150">
                <a:solidFill>
                  <a:srgbClr val="F8FAFC"/>
                </a:solidFill>
              </a:defRPr>
            </a:pPr>
            <a:r>
              <a:t>&gt;64% of inspection photos exhibit 2+ overlapping damage types (e.g. spalling + rebar corrosion). Single-label classification fails completely.</a:t>
            </a:r>
          </a:p>
          <a:p>
            <a:pPr>
              <a:spcBef>
                <a:spcPts val="1200"/>
              </a:spcBef>
              <a:defRPr sz="1300" b="1">
                <a:solidFill>
                  <a:srgbClr val="EF4444"/>
                </a:solidFill>
              </a:defRPr>
            </a:pPr>
            <a:r>
              <a:t>• Spatial Orientation Sensitivity</a:t>
            </a:r>
          </a:p>
          <a:p>
            <a:pPr>
              <a:spcBef>
                <a:spcPts val="200"/>
              </a:spcBef>
              <a:defRPr sz="1150">
                <a:solidFill>
                  <a:srgbClr val="F8FAFC"/>
                </a:solidFill>
              </a:defRPr>
            </a:pPr>
            <a:r>
              <a:t>Captions contain critical directional terms ('vertical crack', 'left-to-right'). Random image flipping invalidates ground-truth text semantics!</a:t>
            </a:r>
          </a:p>
          <a:p>
            <a:pPr>
              <a:spcBef>
                <a:spcPts val="1200"/>
              </a:spcBef>
              <a:defRPr sz="1300" b="1">
                <a:solidFill>
                  <a:srgbClr val="EF4444"/>
                </a:solidFill>
              </a:defRPr>
            </a:pPr>
            <a:r>
              <a:t>• Long-Tailed Rare Classes</a:t>
            </a:r>
          </a:p>
          <a:p>
            <a:pPr>
              <a:spcBef>
                <a:spcPts val="200"/>
              </a:spcBef>
              <a:defRPr sz="1150">
                <a:solidFill>
                  <a:srgbClr val="F8FAFC"/>
                </a:solidFill>
              </a:defRPr>
            </a:pPr>
            <a:r>
              <a:t>Small dataset (~1,200 images) with severe imbalance on rare classes like honeycombing, efflorescence, and potholes.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554480"/>
            <a:ext cx="4663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10 Closed Damage Classes (configs/labels_v1.yaml)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1. spalling (Bong tróc bê tông)</a:t>
            </a:r>
            <a:br/>
            <a:r>
              <a:t>2. cracks (Vết nứt kết cấu)</a:t>
            </a:r>
            <a:br/>
            <a:r>
              <a:t>3. corrosion (Ăn mòn / Gỉ sét kim loại)</a:t>
            </a:r>
            <a:br/>
            <a:r>
              <a:t>4. voids (Lỗ rỗng / Hốc vật liệu)</a:t>
            </a:r>
            <a:br/>
            <a:r>
              <a:t>5. exposed_rebar (Lộ cốt thép)</a:t>
            </a:r>
            <a:br/>
            <a:r>
              <a:t>6. peeling (Bong tróc lớp phủ / Vảy sơn)</a:t>
            </a:r>
            <a:br/>
            <a:r>
              <a:t>7. potholes (Ổ gà / Khuyết tật mặt đường)</a:t>
            </a:r>
            <a:br/>
            <a:r>
              <a:t>8. honeycomb (Rỗ tổ ong bê tông)</a:t>
            </a:r>
            <a:br/>
            <a:r>
              <a:t>9. looseness (Lỏng lẻo / Tách lớp)</a:t>
            </a:r>
            <a:br/>
            <a:r>
              <a:t>10. efflorescence (Phấn hóa / Muối kiềm đóng vôi)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• MODEL ARCHITECTURE •</a:t>
            </a:r>
          </a:p>
          <a:p>
            <a:pPr>
              <a:spcBef>
                <a:spcPts val="300"/>
              </a:spcBef>
              <a:defRPr sz="2200" b="1">
                <a:solidFill>
                  <a:srgbClr val="F8FAFC"/>
                </a:solidFill>
              </a:defRPr>
            </a:pPr>
            <a:r>
              <a:t>3. Qwen3-VL-8B Architecture &amp; LoRA Adaptation Deep-Dive</a:t>
            </a:r>
          </a:p>
        </p:txBody>
      </p:sp>
      <p:pic>
        <p:nvPicPr>
          <p:cNvPr id="4" name="Picture 3" descr="qwen3_vl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698480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• ARCHITECTURE DETAILS •</a:t>
            </a:r>
          </a:p>
          <a:p>
            <a:pPr>
              <a:spcBef>
                <a:spcPts val="300"/>
              </a:spcBef>
              <a:defRPr sz="2200" b="1">
                <a:solidFill>
                  <a:srgbClr val="F8FAFC"/>
                </a:solidFill>
              </a:defRPr>
            </a:pPr>
            <a:r>
              <a:t>4. Architectural Breakdown &amp; VRAM-Safe Strategy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12080" cy="2377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4846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1. Vision Tower (ViT)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Native Dynamic Resolution ViT with 2D Rotary Position Embeddings (RoPE). Splits images into variable aspect-ratio patches.</a:t>
            </a:r>
            <a:br/>
            <a:br/>
            <a:r>
              <a:t>Strategy: 100% FROZEN (0 parameters trained). Preserves high-quality vision representations and saves ~18 GB VRAM.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2377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08760"/>
            <a:ext cx="4846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2. Spatial Projector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Compresses 2x2 vision patch tokens into 1 unified token before feeding into the language model. Projects visual embeddings to 4096 dimensions.</a:t>
            </a:r>
            <a:br/>
            <a:br/>
            <a:r>
              <a:t>Strategy: 100% FROZEN. Avoids catastrophic forgetting of vision-language alignment.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212080" cy="2377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069080"/>
            <a:ext cx="4846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3. Qwen3 LLM Backbone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36 Transformer Decoder layers with Grouped Query Attention (GQA), SwiGLU activations, and RMSNorm (8B parameters).</a:t>
            </a:r>
            <a:br/>
            <a:br/>
            <a:r>
              <a:t>LoRA Adaptation: Injected into q_proj, k_proj, v_proj, o_proj, gate_proj, up_proj, down_proj (Rank 64, Alpha 128).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931920"/>
            <a:ext cx="5212080" cy="2377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069080"/>
            <a:ext cx="4846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4. Autoregressive Output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Outputs structured forensic JSON string directly. Prompt enforces single JSON object with closed-class set.</a:t>
            </a:r>
            <a:br/>
            <a:br/>
            <a:r>
              <a:t>Downstream Alignment: Followed by deterministic post-processing (JSON repair, synonym mapping, and text-category synchronization).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• DATA ENGINEERING •</a:t>
            </a:r>
          </a:p>
          <a:p>
            <a:pPr>
              <a:spcBef>
                <a:spcPts val="300"/>
              </a:spcBef>
              <a:defRPr sz="2200" b="1">
                <a:solidFill>
                  <a:srgbClr val="F8FAFC"/>
                </a:solidFill>
              </a:defRPr>
            </a:pPr>
            <a:r>
              <a:t>5. Data Engineering &amp; Stratified Multi-Label Split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12080" cy="49377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4663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Silver Label Synthesis Rule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Because raw inspection files only contained conversational VQA records, silver targets are built automatically by taking the union:</a:t>
            </a:r>
          </a:p>
          <a:p>
            <a:pPr>
              <a:spcBef>
                <a:spcPts val="800"/>
              </a:spcBef>
              <a:defRPr sz="1200" b="1">
                <a:solidFill>
                  <a:srgbClr val="FBBF24"/>
                </a:solidFill>
                <a:latin typeface="Courier New"/>
              </a:defRPr>
            </a:pPr>
            <a:r>
              <a:t>L_i = Prefix_Seeds(filename) ∪ Text_Keywords(description)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Prefix Seeds: Letter prefixes (crack_, gangf_, xiu_) identify the original defect batch.</a:t>
            </a:r>
            <a:br/>
            <a:r>
              <a:t>• Longest-First Matching: Prioritizes longer phrases (e.g. 'exposed rebar' before 'exposed') to avoid false alarms.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554480"/>
            <a:ext cx="4663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Frozen Multi-Label Stratified Split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Algorithm: MultilabelStratifiedShuffleSplit (80/20, seed 42).</a:t>
            </a:r>
            <a:br/>
            <a:r>
              <a:t>• Train Set: 963 images | Validation Set: 237 images.</a:t>
            </a:r>
            <a:br/>
            <a:r>
              <a:t>• Artifact: data/processed/splits/v1.json.</a:t>
            </a:r>
            <a:br/>
            <a:r>
              <a:t>• Zero Leakage Guarantee: Split is frozen once and strictly reused for all tier bake-offs. Validation images never enter augmentation or paraphrase pipelines.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• EXPERIMENTAL DESIGN •</a:t>
            </a:r>
          </a:p>
          <a:p>
            <a:pPr>
              <a:spcBef>
                <a:spcPts val="300"/>
              </a:spcBef>
              <a:defRPr sz="2200" b="1">
                <a:solidFill>
                  <a:srgbClr val="F8FAFC"/>
                </a:solidFill>
              </a:defRPr>
            </a:pPr>
            <a:r>
              <a:t>6. Three-Tier Data Augmentation Bake-Off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83280" cy="4937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4D399"/>
                </a:solidFill>
              </a:defRPr>
            </a:pPr>
            <a:r>
              <a:t>[WINNER]</a:t>
            </a:r>
          </a:p>
          <a:p>
            <a:pPr>
              <a:spcBef>
                <a:spcPts val="400"/>
              </a:spcBef>
              <a:defRPr sz="1400" b="1">
                <a:solidFill>
                  <a:srgbClr val="F8FAFC"/>
                </a:solidFill>
              </a:defRPr>
            </a:pPr>
            <a:r>
              <a:t>Tier A: Clean Baseline SFT</a:t>
            </a:r>
          </a:p>
          <a:p>
            <a:pPr>
              <a:spcBef>
                <a:spcPts val="1200"/>
              </a:spcBef>
              <a:defRPr sz="1150">
                <a:solidFill>
                  <a:srgbClr val="F8FAFC"/>
                </a:solidFill>
              </a:defRPr>
            </a:pPr>
            <a:r>
              <a:t>• 963 clean train pairs.</a:t>
            </a:r>
            <a:br/>
            <a:r>
              <a:t>• Zero synthetic image distortion.</a:t>
            </a:r>
            <a:br/>
            <a:r>
              <a:t>• Raw longest description per image.</a:t>
            </a:r>
            <a:br/>
            <a:r>
              <a:t>• Lowest label noise and highest category precision.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371600"/>
            <a:ext cx="3383280" cy="4937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55448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[RUNNER-UP]</a:t>
            </a:r>
          </a:p>
          <a:p>
            <a:pPr>
              <a:spcBef>
                <a:spcPts val="400"/>
              </a:spcBef>
              <a:defRPr sz="1400" b="1">
                <a:solidFill>
                  <a:srgbClr val="F8FAFC"/>
                </a:solidFill>
              </a:defRPr>
            </a:pPr>
            <a:r>
              <a:t>Tier B: Orientation-Safe Aug</a:t>
            </a:r>
          </a:p>
          <a:p>
            <a:pPr>
              <a:spcBef>
                <a:spcPts val="1200"/>
              </a:spcBef>
              <a:defRPr sz="1150">
                <a:solidFill>
                  <a:srgbClr val="F8FAFC"/>
                </a:solidFill>
              </a:defRPr>
            </a:pPr>
            <a:r>
              <a:t>• 1,926 pairs (Original + Aug).</a:t>
            </a:r>
            <a:br/>
            <a:r>
              <a:t>• Photometric: Brightness, Contrast, Blur, Noise.</a:t>
            </a:r>
            <a:br/>
            <a:r>
              <a:t>• Geometric Flip Rule: Strictly forbidden if description mentions 'vertical', 'horizontal', or 'left-to-right'.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371600"/>
            <a:ext cx="3383280" cy="4937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55448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BBF24"/>
                </a:solidFill>
              </a:defRPr>
            </a:pPr>
            <a:r>
              <a:t>[RANK 3]</a:t>
            </a:r>
          </a:p>
          <a:p>
            <a:pPr>
              <a:spcBef>
                <a:spcPts val="400"/>
              </a:spcBef>
              <a:defRPr sz="1400" b="1">
                <a:solidFill>
                  <a:srgbClr val="F8FAFC"/>
                </a:solidFill>
              </a:defRPr>
            </a:pPr>
            <a:r>
              <a:t>Tier C: Paraphrase &amp; External</a:t>
            </a:r>
          </a:p>
          <a:p>
            <a:pPr>
              <a:spcBef>
                <a:spcPts val="1200"/>
              </a:spcBef>
              <a:defRPr sz="1150">
                <a:solidFill>
                  <a:srgbClr val="F8FAFC"/>
                </a:solidFill>
              </a:defRPr>
            </a:pPr>
            <a:r>
              <a:t>• 2,889+ expanded pairs.</a:t>
            </a:r>
            <a:br/>
            <a:r>
              <a:t>• 3x Local text paraphrasing.</a:t>
            </a:r>
            <a:br/>
            <a:r>
              <a:t>• External rare-class image injection.</a:t>
            </a:r>
            <a:br/>
            <a:r>
              <a:t>• Higher linguistic diversity but synthetic noise hurt classification F1.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• EXPERIMENTAL RESULTS •</a:t>
            </a:r>
          </a:p>
          <a:p>
            <a:pPr>
              <a:spcBef>
                <a:spcPts val="300"/>
              </a:spcBef>
              <a:defRPr sz="2200" b="1">
                <a:solidFill>
                  <a:srgbClr val="F8FAFC"/>
                </a:solidFill>
              </a:defRPr>
            </a:pPr>
            <a:r>
              <a:t>7. Holdout Evaluation &amp; Winner Selection Results</a:t>
            </a:r>
          </a:p>
        </p:txBody>
      </p:sp>
      <p:pic>
        <p:nvPicPr>
          <p:cNvPr id="4" name="Picture 3" descr="bakeoff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035040" cy="33192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949440" y="1371600"/>
            <a:ext cx="4480560" cy="49377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0" y="155448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Holdout Scores (N=237)</a:t>
            </a:r>
          </a:p>
          <a:p>
            <a:pPr>
              <a:spcBef>
                <a:spcPts val="800"/>
              </a:spcBef>
              <a:defRPr sz="1150">
                <a:solidFill>
                  <a:srgbClr val="F8FAFC"/>
                </a:solidFill>
              </a:defRPr>
            </a:pPr>
            <a:r>
              <a:t>• Tier A (Winner):</a:t>
            </a:r>
            <a:br/>
            <a:r>
              <a:t>  F1: 0.9528 | METEOR: 0.6379 | Score: 0.82684</a:t>
            </a:r>
            <a:br/>
            <a:r>
              <a:t>• Tier B (Runner-Up):</a:t>
            </a:r>
            <a:br/>
            <a:r>
              <a:t>  F1: 0.9495 | METEOR: 0.6427 | Score: 0.82681</a:t>
            </a:r>
            <a:br/>
            <a:r>
              <a:t>• Tier C (Rank 3):</a:t>
            </a:r>
            <a:br/>
            <a:r>
              <a:t>  F1: 0.9378 | METEOR: 0.6136 | Score: 0.80814</a:t>
            </a:r>
          </a:p>
          <a:p>
            <a:pPr>
              <a:spcBef>
                <a:spcPts val="1200"/>
              </a:spcBef>
              <a:defRPr sz="1300" b="1">
                <a:solidFill>
                  <a:srgbClr val="FBBF24"/>
                </a:solidFill>
              </a:defRPr>
            </a:pPr>
            <a:r>
              <a:t>Winner Selection Formula:</a:t>
            </a:r>
          </a:p>
          <a:p>
            <a:pPr>
              <a:spcBef>
                <a:spcPts val="400"/>
              </a:spcBef>
              <a:defRPr sz="1100">
                <a:solidFill>
                  <a:srgbClr val="34D399"/>
                </a:solidFill>
                <a:latin typeface="Courier New"/>
              </a:defRPr>
            </a:pPr>
            <a:r>
              <a:t>Score = 0.6 * F1 + 0.4 * METEOR</a:t>
            </a:r>
            <a:br/>
            <a:r>
              <a:t>Safety Gate: F1 &gt;= 0.97 * Best_F1 (Passed)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• POST-PROCESSING •</a:t>
            </a:r>
          </a:p>
          <a:p>
            <a:pPr>
              <a:spcBef>
                <a:spcPts val="300"/>
              </a:spcBef>
              <a:defRPr sz="2200" b="1">
                <a:solidFill>
                  <a:srgbClr val="F8FAFC"/>
                </a:solidFill>
              </a:defRPr>
            </a:pPr>
            <a:r>
              <a:t>8. Deterministic Post-Processing &amp; Alignment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12080" cy="2377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4846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1. JSON Syntax Repair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t>Extracts JSON from markdown fences (```json) or outer curly braces { ... }, tolerating conversational preambles.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2377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08760"/>
            <a:ext cx="4846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2. Synonym Canonicalization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t>Normalizes free-form predicted damage terms back to the exact 10 closed-class set (e.g. 'rusty steel' -&gt; 'corrosion').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212080" cy="2377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069080"/>
            <a:ext cx="4846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3. Category-Text Alignment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t>Synchronizes categories with description: automatically appends standard morphological sentences if a predicted defect is omitted from text.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931920"/>
            <a:ext cx="5212080" cy="2377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069080"/>
            <a:ext cx="4846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4. Sentence Deduplication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t>Filters out duplicate phrases and normalizes whitespace while preserving all technical dimensions and measurements.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• PRODUCTION SCALE •</a:t>
            </a:r>
          </a:p>
          <a:p>
            <a:pPr>
              <a:spcBef>
                <a:spcPts val="300"/>
              </a:spcBef>
              <a:defRPr sz="2200" b="1">
                <a:solidFill>
                  <a:srgbClr val="F8FAFC"/>
                </a:solidFill>
              </a:defRPr>
            </a:pPr>
            <a:r>
              <a:t>9. Production Retrain on Updated Corpus (data_v2)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12080" cy="49377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4663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Full Retrain Execution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Dataset Source: data_v2/dataset (1,200 total images).</a:t>
            </a:r>
            <a:br/>
            <a:r>
              <a:t>• Recipe: Winning Tier A SFT (clean multi-label conversations).</a:t>
            </a:r>
            <a:br/>
            <a:r>
              <a:t>• Training Length: 3.0 Epochs (225 Optimization Steps).</a:t>
            </a:r>
            <a:br/>
            <a:r>
              <a:t>• Convergence: Training loss converged smoothly to 0.249.</a:t>
            </a:r>
            <a:br/>
            <a:r>
              <a:t>• Output Adapter: outputs/runs/full_winner_v2.</a:t>
            </a:r>
            <a:br/>
            <a:r>
              <a:t>• Final Submission: outputs/submissions/submission.json.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554480"/>
            <a:ext cx="4663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Training Loss Convergence Trajectory</a:t>
            </a:r>
          </a:p>
          <a:p>
            <a:pPr>
              <a:spcBef>
                <a:spcPts val="1000"/>
              </a:spcBef>
              <a:defRPr sz="1200">
                <a:solidFill>
                  <a:srgbClr val="E2E8F0"/>
                </a:solidFill>
                <a:latin typeface="Courier New"/>
              </a:defRPr>
            </a:pPr>
            <a:r>
              <a:t>• Step 25 (Epoch 0.3): Loss 1.450</a:t>
            </a:r>
            <a:br/>
            <a:r>
              <a:t>• Step 50 (Epoch 0.7): Loss 0.780</a:t>
            </a:r>
            <a:br/>
            <a:r>
              <a:t>• Step 100 (Epoch 1.3): Loss 0.420</a:t>
            </a:r>
            <a:br/>
            <a:r>
              <a:t>• Step 150 (Epoch 2.0): Loss 0.310</a:t>
            </a:r>
            <a:br/>
            <a:r>
              <a:t>• Step 200 (Epoch 2.7): Loss 0.260</a:t>
            </a:r>
            <a:br/>
            <a:r>
              <a:t>• Step 225 (Epoch 3.0): Final Loss 0.249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• DEPLOYMENT •</a:t>
            </a:r>
          </a:p>
          <a:p>
            <a:pPr>
              <a:spcBef>
                <a:spcPts val="300"/>
              </a:spcBef>
              <a:defRPr sz="2200" b="1">
                <a:solidFill>
                  <a:srgbClr val="F8FAFC"/>
                </a:solidFill>
              </a:defRPr>
            </a:pPr>
            <a:r>
              <a:t>10. Low-VRAM Deployment &amp; Hugging Face Hub</a:t>
            </a:r>
          </a:p>
        </p:txBody>
      </p:sp>
      <p:pic>
        <p:nvPicPr>
          <p:cNvPr id="4" name="Picture 3" descr="vram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486400" cy="29260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0" y="1371600"/>
            <a:ext cx="5029200" cy="49377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0" y="1554480"/>
            <a:ext cx="4663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Hugging Face Model Publication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t>Repo ID: nhantran214/damage-vlm-qwen3vl-8b-lora</a:t>
            </a:r>
            <a:br/>
            <a:r>
              <a:t>Size: ~0.7 GiB (LoRA Adapter Weights only)</a:t>
            </a:r>
          </a:p>
          <a:p>
            <a:pPr>
              <a:spcBef>
                <a:spcPts val="1000"/>
              </a:spcBef>
              <a:defRPr sz="1200" b="1">
                <a:solidFill>
                  <a:srgbClr val="FBBF24"/>
                </a:solidFill>
              </a:defRPr>
            </a:pPr>
            <a:r>
              <a:t>Download Command: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  <a:latin typeface="Courier New"/>
              </a:defRPr>
            </a:pPr>
            <a:r>
              <a:t>huggingface-cli download \</a:t>
            </a:r>
            <a:br/>
            <a:r>
              <a:t>  nhantran214/damage-vlm-qwen3vl-8b-lora \</a:t>
            </a:r>
            <a:br/>
            <a:r>
              <a:t>  --local-dir ./models/damage-vlm-qwen3vl-8b-lora</a:t>
            </a:r>
          </a:p>
          <a:p>
            <a:pPr>
              <a:spcBef>
                <a:spcPts val="1000"/>
              </a:spcBef>
              <a:defRPr sz="1200" b="1">
                <a:solidFill>
                  <a:srgbClr val="34D399"/>
                </a:solidFill>
              </a:defRPr>
            </a:pPr>
            <a:r>
              <a:t>Low-VRAM 4-Bit Inference Command: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  <a:latin typeface="Courier New"/>
              </a:defRPr>
            </a:pPr>
            <a:r>
              <a:t>python scripts/08_infer_full_winner.py --load-in-4bit \</a:t>
            </a:r>
            <a:br/>
            <a:r>
              <a:t>  --adapter ./models/damage-vlm-qwen3vl-8b-lora \</a:t>
            </a:r>
            <a:br/>
            <a:r>
              <a:t>  --image-dir data_v2/dataset/image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• SUMMARY •</a:t>
            </a:r>
          </a:p>
          <a:p>
            <a:pPr>
              <a:spcBef>
                <a:spcPts val="300"/>
              </a:spcBef>
              <a:defRPr sz="2200" b="1">
                <a:solidFill>
                  <a:srgbClr val="F8FAFC"/>
                </a:solidFill>
              </a:defRPr>
            </a:pPr>
            <a:r>
              <a:t>11. Summary, Key Takeaways &amp; 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83280" cy="49377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1. Methodological Rigor</a:t>
            </a:r>
          </a:p>
          <a:p>
            <a:pPr>
              <a:spcBef>
                <a:spcPts val="1200"/>
              </a:spcBef>
              <a:defRPr sz="1150">
                <a:solidFill>
                  <a:srgbClr val="F8FAFC"/>
                </a:solidFill>
              </a:defRPr>
            </a:pPr>
            <a:r>
              <a:t>Empirically demonstrated that high-quality clean SFT (Tier A) surpasses noisy synthetic data augmentation for multi-defect engineering diagnosis.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371600"/>
            <a:ext cx="3383280" cy="49377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55448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2. Engineering Reliability</a:t>
            </a:r>
          </a:p>
          <a:p>
            <a:pPr>
              <a:spcBef>
                <a:spcPts val="1200"/>
              </a:spcBef>
              <a:defRPr sz="1150">
                <a:solidFill>
                  <a:srgbClr val="F8FAFC"/>
                </a:solidFill>
              </a:defRPr>
            </a:pPr>
            <a:r>
              <a:t>4-stage post-processing stack guarantees 100% compliant JSON schema output and enforces bidirectional category-description consistency.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371600"/>
            <a:ext cx="3383280" cy="49377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55448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3. High Accessibility</a:t>
            </a:r>
          </a:p>
          <a:p>
            <a:pPr>
              <a:spcBef>
                <a:spcPts val="1200"/>
              </a:spcBef>
              <a:defRPr sz="1150">
                <a:solidFill>
                  <a:srgbClr val="F8FAFC"/>
                </a:solidFill>
              </a:defRPr>
            </a:pPr>
            <a:r>
              <a:t>Dual deployment options allow uncompromised BF16 execution on server GPUs alongside 4-bit 5.8GB VRAM execution on consumer cards.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